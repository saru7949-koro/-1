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役員報告" id="{76a38c19-254d-e757-92c5-7f0134b65653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9F時点</c:v>
                </c:pt>
              </c:strCache>
            </c:strRef>
          </c:tx>
          <c:spPr>
            <a:solidFill>
              <a:srgbClr val="D6E4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FCT</c:v>
                  </c:pt>
                  <c:pt idx="1">
                    <c:v>Backup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10FCT時点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FCT</c:v>
                  </c:pt>
                  <c:pt idx="1">
                    <c:v>Backup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勝率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</c:v>
                  </c:pt>
                  <c:pt idx="1">
                    <c:v>MA</c:v>
                  </c:pt>
                  <c:pt idx="2">
                    <c:v>SA</c:v>
                  </c:pt>
                  <c:pt idx="3">
                    <c:v>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</c:v>
                </c:pt>
                <c:pt idx="1">
                  <c:v>0.77</c:v>
                </c:pt>
                <c:pt idx="2">
                  <c:v>0.67</c:v>
                </c:pt>
                <c:pt idx="3">
                  <c:v>0.58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9F時点</c:v>
                </c:pt>
              </c:strCache>
            </c:strRef>
          </c:tx>
          <c:spPr>
            <a:solidFill>
              <a:srgbClr val="D6E4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FCT</c:v>
                  </c:pt>
                  <c:pt idx="1">
                    <c:v>Backup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10FCT時点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FCT</c:v>
                  </c:pt>
                  <c:pt idx="1">
                    <c:v>Backup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見込み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現状見込み</c:v>
                  </c:pt>
                  <c:pt idx="1">
                    <c:v>必要水準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8.6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FCT決め切り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現状見込み</c:v>
                  </c:pt>
                  <c:pt idx="1">
                    <c:v>必要水準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Backup昇格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現状見込み</c:v>
                  </c:pt>
                  <c:pt idx="1">
                    <c:v>必要水準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Q4から前倒し</c:v>
                </c:pt>
              </c:strCache>
            </c:strRef>
          </c:tx>
          <c:spPr>
            <a:solidFill>
              <a:srgbClr val="0F8B7E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現状見込み</c:v>
                  </c:pt>
                  <c:pt idx="1">
                    <c:v>必要水準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5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"/>
          <c:y val="0.12"/>
          <c:w val="0.96"/>
          <c:h val="0.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不足</c:v>
                  </c:pt>
                  <c:pt idx="1">
                    <c:v>①Backup昇格</c:v>
                  </c:pt>
                  <c:pt idx="2">
                    <c:v>②引き戻し</c:v>
                  </c:pt>
                  <c:pt idx="3">
                    <c:v>③テレマ</c:v>
                  </c:pt>
                  <c:pt idx="4">
                    <c:v>④⑤リード・展示会</c:v>
                  </c:pt>
                  <c:pt idx="5">
                    <c:v>残ギャップ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11.8</c:v>
                </c:pt>
                <c:pt idx="2">
                  <c:v>8.8</c:v>
                </c:pt>
                <c:pt idx="3">
                  <c:v>7.4</c:v>
                </c:pt>
                <c:pt idx="4">
                  <c:v>6.1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不足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不足</c:v>
                  </c:pt>
                  <c:pt idx="1">
                    <c:v>①Backup昇格</c:v>
                  </c:pt>
                  <c:pt idx="2">
                    <c:v>②引き戻し</c:v>
                  </c:pt>
                  <c:pt idx="3">
                    <c:v>③テレマ</c:v>
                  </c:pt>
                  <c:pt idx="4">
                    <c:v>④⑤リード・展示会</c:v>
                  </c:pt>
                  <c:pt idx="5">
                    <c:v>残ギャップ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6.2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アクション</c:v>
                </c:pt>
              </c:strCache>
            </c:strRef>
          </c:tx>
          <c:spPr>
            <a:solidFill>
              <a:srgbClr val="0F8B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不足</c:v>
                  </c:pt>
                  <c:pt idx="1">
                    <c:v>①Backup昇格</c:v>
                  </c:pt>
                  <c:pt idx="2">
                    <c:v>②引き戻し</c:v>
                  </c:pt>
                  <c:pt idx="3">
                    <c:v>③テレマ</c:v>
                  </c:pt>
                  <c:pt idx="4">
                    <c:v>④⑤リード・展示会</c:v>
                  </c:pt>
                  <c:pt idx="5">
                    <c:v>残ギャップ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1.4</c:v>
                </c:pt>
                <c:pt idx="4">
                  <c:v>1.3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必要リード30件は、Sep報告と同じ式(着地理論値=成約+FCT×勝率+Backup×10%、必要リード=不足÷勝率)を10FCT版の案件Excelに当てた値。9F版で再計算するとスライドの21件とほぼ一致する。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=2026年10〜12月。見込みは案件Excel(10FCT版)のQ3案件(10FCT計上分を含む)に、年間と同じ式(FCT×モデル勝率+Backup×10%)を当てた値。必要水準の内訳(決め切り12・Backup1・前倒し5)は18台に届く組み合わせの一例で、予測ではない。MTO&gt;Week+5週は案件Excelの記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①=下期Backup41件×15%×(モデル勝率−10%)、②=来期へ移った54件×10%×モデル勝率、③=テレマ422名×2%×FCT化32%(Sep報告slide4: 30/94)×平均勝率0.54、④⑤=リード保証148件と展示会2回×110リードを同じ率で換算。ストレッチは①②の率を同じ倍率で引き上げ、不足を埋める水準。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出典: 案件Excel(9FCT / 10FCT版)、FY20-25商談総括、FY26新規リード、LST MOC FY26 Sep報告。施設名・個人名は非掲載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下期パイプラインは9F目標に14.8台不足、必要リードは21件から30件に拡大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9F以降、今期案件54件が来期へ移動。上期▲7台の挽回を含む9F目標60台の達成には、代理店の既存案件の引き上げが前提</a:t>
            </a:r>
            <a:endParaRPr lang="en-US" sz="1300" dirty="0"/>
          </a:p>
        </p:txBody>
      </p:sp>
      <p:sp>
        <p:nvSpPr>
          <p:cNvPr id="4" name="kpi-0"/>
          <p:cNvSpPr/>
          <p:nvPr/>
        </p:nvSpPr>
        <p:spPr>
          <a:xfrm>
            <a:off x="457200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pi-t-0"/>
          <p:cNvSpPr txBox="1"/>
          <p:nvPr/>
        </p:nvSpPr>
        <p:spPr>
          <a:xfrm>
            <a:off x="640080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9F目標</a:t>
            </a:r>
            <a:endParaRPr lang="en-US" sz="1200" dirty="0"/>
          </a:p>
        </p:txBody>
      </p:sp>
      <p:sp>
        <p:nvSpPr>
          <p:cNvPr id="6" name="kpi-v-0"/>
          <p:cNvSpPr txBox="1"/>
          <p:nvPr/>
        </p:nvSpPr>
        <p:spPr>
          <a:xfrm>
            <a:off x="640080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60台</a:t>
            </a:r>
            <a:endParaRPr lang="en-US" sz="3000" dirty="0"/>
          </a:p>
        </p:txBody>
      </p:sp>
      <p:sp>
        <p:nvSpPr>
          <p:cNvPr id="7" name="kpi-s-0"/>
          <p:cNvSpPr txBox="1"/>
          <p:nvPr/>
        </p:nvSpPr>
        <p:spPr>
          <a:xfrm>
            <a:off x="640080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1H実績11台 + 下期49台</a:t>
            </a:r>
            <a:endParaRPr lang="en-US" sz="1000" dirty="0"/>
          </a:p>
        </p:txBody>
      </p:sp>
      <p:sp>
        <p:nvSpPr>
          <p:cNvPr id="8" name="kpi-1"/>
          <p:cNvSpPr/>
          <p:nvPr/>
        </p:nvSpPr>
        <p:spPr>
          <a:xfrm>
            <a:off x="3319272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pi-t-1"/>
          <p:cNvSpPr txBox="1"/>
          <p:nvPr/>
        </p:nvSpPr>
        <p:spPr>
          <a:xfrm>
            <a:off x="3502152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着地理論値(10FCT)</a:t>
            </a:r>
            <a:endParaRPr lang="en-US" sz="1200" dirty="0"/>
          </a:p>
        </p:txBody>
      </p:sp>
      <p:sp>
        <p:nvSpPr>
          <p:cNvPr id="10" name="kpi-v-1"/>
          <p:cNvSpPr txBox="1"/>
          <p:nvPr/>
        </p:nvSpPr>
        <p:spPr>
          <a:xfrm>
            <a:off x="3502152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45.1台</a:t>
            </a:r>
            <a:endParaRPr lang="en-US" sz="3000" dirty="0"/>
          </a:p>
        </p:txBody>
      </p:sp>
      <p:sp>
        <p:nvSpPr>
          <p:cNvPr id="11" name="kpi-s-1"/>
          <p:cNvSpPr txBox="1"/>
          <p:nvPr/>
        </p:nvSpPr>
        <p:spPr>
          <a:xfrm>
            <a:off x="3502152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9F時点 48.2台から ▲3.1台</a:t>
            </a:r>
            <a:endParaRPr lang="en-US" sz="1000" dirty="0"/>
          </a:p>
        </p:txBody>
      </p:sp>
      <p:sp>
        <p:nvSpPr>
          <p:cNvPr id="12" name="kpi-2"/>
          <p:cNvSpPr/>
          <p:nvPr/>
        </p:nvSpPr>
        <p:spPr>
          <a:xfrm>
            <a:off x="6181344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kpi-t-2"/>
          <p:cNvSpPr txBox="1"/>
          <p:nvPr/>
        </p:nvSpPr>
        <p:spPr>
          <a:xfrm>
            <a:off x="6364224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不足</a:t>
            </a:r>
            <a:endParaRPr lang="en-US" sz="1200" dirty="0"/>
          </a:p>
        </p:txBody>
      </p:sp>
      <p:sp>
        <p:nvSpPr>
          <p:cNvPr id="14" name="kpi-v-2"/>
          <p:cNvSpPr txBox="1"/>
          <p:nvPr/>
        </p:nvSpPr>
        <p:spPr>
          <a:xfrm>
            <a:off x="6364224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14.8台</a:t>
            </a:r>
            <a:endParaRPr lang="en-US" sz="3000" dirty="0"/>
          </a:p>
        </p:txBody>
      </p:sp>
      <p:sp>
        <p:nvSpPr>
          <p:cNvPr id="15" name="kpi-s-2"/>
          <p:cNvSpPr txBox="1"/>
          <p:nvPr/>
        </p:nvSpPr>
        <p:spPr>
          <a:xfrm>
            <a:off x="6364224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9F時点 11.8台から拡大</a:t>
            </a:r>
            <a:endParaRPr lang="en-US" sz="1000" dirty="0"/>
          </a:p>
        </p:txBody>
      </p:sp>
      <p:sp>
        <p:nvSpPr>
          <p:cNvPr id="16" name="kpi-3"/>
          <p:cNvSpPr/>
          <p:nvPr/>
        </p:nvSpPr>
        <p:spPr>
          <a:xfrm>
            <a:off x="9043416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kpi-t-3"/>
          <p:cNvSpPr txBox="1"/>
          <p:nvPr/>
        </p:nvSpPr>
        <p:spPr>
          <a:xfrm>
            <a:off x="9226296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必要リード(FCT相当)</a:t>
            </a:r>
            <a:endParaRPr lang="en-US" sz="1200" dirty="0"/>
          </a:p>
        </p:txBody>
      </p:sp>
      <p:sp>
        <p:nvSpPr>
          <p:cNvPr id="18" name="kpi-v-3"/>
          <p:cNvSpPr txBox="1"/>
          <p:nvPr/>
        </p:nvSpPr>
        <p:spPr>
          <a:xfrm>
            <a:off x="9226296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30件</a:t>
            </a:r>
            <a:endParaRPr lang="en-US" sz="3000" dirty="0"/>
          </a:p>
        </p:txBody>
      </p:sp>
      <p:sp>
        <p:nvSpPr>
          <p:cNvPr id="19" name="kpi-s-3"/>
          <p:cNvSpPr txBox="1"/>
          <p:nvPr/>
        </p:nvSpPr>
        <p:spPr>
          <a:xfrm>
            <a:off x="9226296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9F時点 21件 = 不足 ÷ モデル別勝率</a:t>
            </a:r>
            <a:endParaRPr lang="en-US" sz="1000" dirty="0"/>
          </a:p>
        </p:txBody>
      </p:sp>
      <p:sp>
        <p:nvSpPr>
          <p:cNvPr id="20" name="col-pipe"/>
          <p:cNvSpPr/>
          <p:nvPr/>
        </p:nvSpPr>
        <p:spPr>
          <a:xfrm>
            <a:off x="457200" y="2834640"/>
            <a:ext cx="3657600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pipe-h"/>
          <p:cNvSpPr txBox="1"/>
          <p:nvPr/>
        </p:nvSpPr>
        <p:spPr>
          <a:xfrm>
            <a:off x="45720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パイプライン数(今期・確度&gt;0)</a:t>
            </a:r>
            <a:endParaRPr lang="en-US" sz="1400" dirty="0"/>
          </a:p>
        </p:txBody>
      </p:sp>
      <p:graphicFrame>
        <p:nvGraphicFramePr>
          <p:cNvPr id="22" name="pipe-chart" descr=""/>
          <p:cNvGraphicFramePr/>
          <p:nvPr/>
        </p:nvGraphicFramePr>
        <p:xfrm>
          <a:off x="457200" y="3154680"/>
          <a:ext cx="36576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pipe-note"/>
          <p:cNvSpPr txBox="1"/>
          <p:nvPr/>
        </p:nvSpPr>
        <p:spPr>
          <a:xfrm>
            <a:off x="594360" y="5303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Backupが88件→41件に減少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9F以降の動き: 来期へ移動54件(うちBackup49件)、新規追加23件、LOST等5件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下期FCT50件のうち32件が3月計上、31件は納期未定(C)</a:t>
            </a:r>
            <a:endParaRPr lang="en-US" sz="1100" dirty="0"/>
          </a:p>
        </p:txBody>
      </p:sp>
      <p:sp>
        <p:nvSpPr>
          <p:cNvPr id="24" name="col-win"/>
          <p:cNvSpPr/>
          <p:nvPr/>
        </p:nvSpPr>
        <p:spPr>
          <a:xfrm>
            <a:off x="4343400" y="2834640"/>
            <a:ext cx="3291840" cy="35204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win-h"/>
          <p:cNvSpPr txBox="1"/>
          <p:nvPr/>
        </p:nvSpPr>
        <p:spPr>
          <a:xfrm>
            <a:off x="434340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勝敗(FY20-25実績)</a:t>
            </a:r>
            <a:endParaRPr lang="en-US" sz="1400" dirty="0"/>
          </a:p>
        </p:txBody>
      </p:sp>
      <p:sp>
        <p:nvSpPr>
          <p:cNvPr id="26" name="win-big"/>
          <p:cNvSpPr txBox="1"/>
          <p:nvPr/>
        </p:nvSpPr>
        <p:spPr>
          <a:xfrm>
            <a:off x="4343400" y="3182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74%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335勝118敗</a:t>
            </a:r>
            <a:endParaRPr lang="en-US" sz="3000" dirty="0"/>
          </a:p>
        </p:txBody>
      </p:sp>
      <p:graphicFrame>
        <p:nvGraphicFramePr>
          <p:cNvPr id="27" name="win-chart" descr=""/>
          <p:cNvGraphicFramePr/>
          <p:nvPr/>
        </p:nvGraphicFramePr>
        <p:xfrm>
          <a:off x="4343400" y="3703320"/>
          <a:ext cx="32918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win-callout"/>
          <p:cNvSpPr/>
          <p:nvPr/>
        </p:nvSpPr>
        <p:spPr>
          <a:xfrm>
            <a:off x="4480560" y="521208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win-note"/>
          <p:cNvSpPr txBox="1"/>
          <p:nvPr/>
        </p:nvSpPr>
        <p:spPr>
          <a:xfrm>
            <a:off x="4617720" y="5266944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IDはデモの有無で勝率が倍違う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デモ有 90%(9勝1敗) / デモ無 46%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1H: 大型LOST 3台、競合負け2台</a:t>
            </a:r>
            <a:endParaRPr lang="en-US" sz="1100" dirty="0"/>
          </a:p>
        </p:txBody>
      </p:sp>
      <p:sp>
        <p:nvSpPr>
          <p:cNvPr id="30" name="col-agent"/>
          <p:cNvSpPr/>
          <p:nvPr/>
        </p:nvSpPr>
        <p:spPr>
          <a:xfrm>
            <a:off x="7863840" y="2834640"/>
            <a:ext cx="3867912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agent-h"/>
          <p:cNvSpPr txBox="1"/>
          <p:nvPr/>
        </p:nvSpPr>
        <p:spPr>
          <a:xfrm>
            <a:off x="7863840" y="283464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代理店別(一次店、下期)</a:t>
            </a:r>
            <a:endParaRPr lang="en-US" sz="1400" dirty="0"/>
          </a:p>
        </p:txBody>
      </p:sp>
      <p:graphicFrame>
        <p:nvGraphicFramePr>
          <p:cNvPr id="2" name="ag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3200400"/>
          <a:ext cx="38679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84048"/>
                <a:gridCol w="548640"/>
                <a:gridCol w="585216"/>
                <a:gridCol w="585216"/>
                <a:gridCol w="4389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一次店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FCT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Backup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着地寄与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期外移動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勝率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富士フイルム和光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バイオテック・ラボ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池田理化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レスター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ナカライテスク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3" name="agent-note"/>
          <p:cNvSpPr txBox="1"/>
          <p:nvPr/>
        </p:nvSpPr>
        <p:spPr>
          <a:xfrm>
            <a:off x="8001000" y="498348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上位5社で下期着地寄与の70%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和光に集中: FCT18件、期外移動16件、期日超過・アクション未記入24件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accent5"/>
                </a:solidFill>
              </a:rPr>
              <a:t>着地寄与 = FCT×モデル勝率 + Backup×10%(台)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Q3 BGT18台に対し見込み8.6台、Q3全件でも届かずQ4前倒しが必須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Q3 FCT14件のうち11件が納期未定(C)。MTO品は受注から5週超のため、12月納品には11月上旬の受注確定がリミット</a:t>
            </a:r>
            <a:endParaRPr lang="en-US" sz="1300" dirty="0"/>
          </a:p>
        </p:txBody>
      </p:sp>
      <p:sp>
        <p:nvSpPr>
          <p:cNvPr id="4" name="q3kpi-0"/>
          <p:cNvSpPr/>
          <p:nvPr/>
        </p:nvSpPr>
        <p:spPr>
          <a:xfrm>
            <a:off x="457200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q3kpi-t-0"/>
          <p:cNvSpPr txBox="1"/>
          <p:nvPr/>
        </p:nvSpPr>
        <p:spPr>
          <a:xfrm>
            <a:off x="640080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Q3 BGT(10〜12月)</a:t>
            </a:r>
            <a:endParaRPr lang="en-US" sz="1200" dirty="0"/>
          </a:p>
        </p:txBody>
      </p:sp>
      <p:sp>
        <p:nvSpPr>
          <p:cNvPr id="6" name="q3kpi-v-0"/>
          <p:cNvSpPr txBox="1"/>
          <p:nvPr/>
        </p:nvSpPr>
        <p:spPr>
          <a:xfrm>
            <a:off x="640080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18台</a:t>
            </a:r>
            <a:endParaRPr lang="en-US" sz="3000" dirty="0"/>
          </a:p>
        </p:txBody>
      </p:sp>
      <p:sp>
        <p:nvSpPr>
          <p:cNvPr id="7" name="q3kpi-s-0"/>
          <p:cNvSpPr txBox="1"/>
          <p:nvPr/>
        </p:nvSpPr>
        <p:spPr>
          <a:xfrm>
            <a:off x="640080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年間9F 60台のうち下期49台の一部</a:t>
            </a:r>
            <a:endParaRPr lang="en-US" sz="1000" dirty="0"/>
          </a:p>
        </p:txBody>
      </p:sp>
      <p:sp>
        <p:nvSpPr>
          <p:cNvPr id="8" name="q3kpi-1"/>
          <p:cNvSpPr/>
          <p:nvPr/>
        </p:nvSpPr>
        <p:spPr>
          <a:xfrm>
            <a:off x="3319272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q3kpi-t-1"/>
          <p:cNvSpPr txBox="1"/>
          <p:nvPr/>
        </p:nvSpPr>
        <p:spPr>
          <a:xfrm>
            <a:off x="3502152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Q3 着地理論値(10FCT)</a:t>
            </a:r>
            <a:endParaRPr lang="en-US" sz="1200" dirty="0"/>
          </a:p>
        </p:txBody>
      </p:sp>
      <p:sp>
        <p:nvSpPr>
          <p:cNvPr id="10" name="q3kpi-v-1"/>
          <p:cNvSpPr txBox="1"/>
          <p:nvPr/>
        </p:nvSpPr>
        <p:spPr>
          <a:xfrm>
            <a:off x="3502152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8.6台</a:t>
            </a:r>
            <a:endParaRPr lang="en-US" sz="3000" dirty="0"/>
          </a:p>
        </p:txBody>
      </p:sp>
      <p:sp>
        <p:nvSpPr>
          <p:cNvPr id="11" name="q3kpi-s-1"/>
          <p:cNvSpPr txBox="1"/>
          <p:nvPr/>
        </p:nvSpPr>
        <p:spPr>
          <a:xfrm>
            <a:off x="3502152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9F時点 12.2台から ▲3.6台</a:t>
            </a:r>
            <a:endParaRPr lang="en-US" sz="1000" dirty="0"/>
          </a:p>
        </p:txBody>
      </p:sp>
      <p:sp>
        <p:nvSpPr>
          <p:cNvPr id="12" name="q3kpi-2"/>
          <p:cNvSpPr/>
          <p:nvPr/>
        </p:nvSpPr>
        <p:spPr>
          <a:xfrm>
            <a:off x="6181344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q3kpi-t-2"/>
          <p:cNvSpPr txBox="1"/>
          <p:nvPr/>
        </p:nvSpPr>
        <p:spPr>
          <a:xfrm>
            <a:off x="6364224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Q3 ギャップ</a:t>
            </a:r>
            <a:endParaRPr lang="en-US" sz="1200" dirty="0"/>
          </a:p>
        </p:txBody>
      </p:sp>
      <p:sp>
        <p:nvSpPr>
          <p:cNvPr id="14" name="q3kpi-v-2"/>
          <p:cNvSpPr txBox="1"/>
          <p:nvPr/>
        </p:nvSpPr>
        <p:spPr>
          <a:xfrm>
            <a:off x="6364224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9.4台</a:t>
            </a:r>
            <a:endParaRPr lang="en-US" sz="3000" dirty="0"/>
          </a:p>
        </p:txBody>
      </p:sp>
      <p:sp>
        <p:nvSpPr>
          <p:cNvPr id="15" name="q3kpi-s-2"/>
          <p:cNvSpPr txBox="1"/>
          <p:nvPr/>
        </p:nvSpPr>
        <p:spPr>
          <a:xfrm>
            <a:off x="6364224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FCT・Backupを全件取っても17台</a:t>
            </a:r>
            <a:endParaRPr lang="en-US" sz="1000" dirty="0"/>
          </a:p>
        </p:txBody>
      </p:sp>
      <p:sp>
        <p:nvSpPr>
          <p:cNvPr id="16" name="q3kpi-3"/>
          <p:cNvSpPr/>
          <p:nvPr/>
        </p:nvSpPr>
        <p:spPr>
          <a:xfrm>
            <a:off x="9043416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q3kpi-t-3"/>
          <p:cNvSpPr txBox="1"/>
          <p:nvPr/>
        </p:nvSpPr>
        <p:spPr>
          <a:xfrm>
            <a:off x="9226296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Q3 FCT</a:t>
            </a:r>
            <a:endParaRPr lang="en-US" sz="1200" dirty="0"/>
          </a:p>
        </p:txBody>
      </p:sp>
      <p:sp>
        <p:nvSpPr>
          <p:cNvPr id="18" name="q3kpi-v-3"/>
          <p:cNvSpPr txBox="1"/>
          <p:nvPr/>
        </p:nvSpPr>
        <p:spPr>
          <a:xfrm>
            <a:off x="9226296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14件</a:t>
            </a:r>
            <a:endParaRPr lang="en-US" sz="3000" dirty="0"/>
          </a:p>
        </p:txBody>
      </p:sp>
      <p:sp>
        <p:nvSpPr>
          <p:cNvPr id="19" name="q3kpi-s-3"/>
          <p:cNvSpPr txBox="1"/>
          <p:nvPr/>
        </p:nvSpPr>
        <p:spPr>
          <a:xfrm>
            <a:off x="9226296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うち納期未定(C) 11件・MTO 1件</a:t>
            </a:r>
            <a:endParaRPr lang="en-US" sz="1000" dirty="0"/>
          </a:p>
        </p:txBody>
      </p:sp>
      <p:sp>
        <p:nvSpPr>
          <p:cNvPr id="20" name="q3-pipe"/>
          <p:cNvSpPr/>
          <p:nvPr/>
        </p:nvSpPr>
        <p:spPr>
          <a:xfrm>
            <a:off x="457200" y="2834640"/>
            <a:ext cx="3383280" cy="352044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q3-pipe-h"/>
          <p:cNvSpPr txBox="1"/>
          <p:nvPr/>
        </p:nvSpPr>
        <p:spPr>
          <a:xfrm>
            <a:off x="45720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Q3パイプライン(確度&gt;0)</a:t>
            </a:r>
            <a:endParaRPr lang="en-US" sz="1400" dirty="0"/>
          </a:p>
        </p:txBody>
      </p:sp>
      <p:graphicFrame>
        <p:nvGraphicFramePr>
          <p:cNvPr id="22" name="q3-pipe-chart" descr=""/>
          <p:cNvGraphicFramePr/>
          <p:nvPr/>
        </p:nvGraphicFramePr>
        <p:xfrm>
          <a:off x="457200" y="3154680"/>
          <a:ext cx="33832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q3-pipe-note"/>
          <p:cNvSpPr txBox="1"/>
          <p:nvPr/>
        </p:nvSpPr>
        <p:spPr>
          <a:xfrm>
            <a:off x="594360" y="53035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9Fから FCT18→14件・Backup13→3件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FCT14件: SH5・MA7・ID1・FP1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顧客: アカデミア10・バイオ企業3・製薬1</a:t>
            </a:r>
            <a:endParaRPr lang="en-US" sz="1100" dirty="0"/>
          </a:p>
        </p:txBody>
      </p:sp>
      <p:sp>
        <p:nvSpPr>
          <p:cNvPr id="24" name="q3-agent"/>
          <p:cNvSpPr/>
          <p:nvPr/>
        </p:nvSpPr>
        <p:spPr>
          <a:xfrm>
            <a:off x="4069080" y="2834640"/>
            <a:ext cx="3749040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q3-agent-h"/>
          <p:cNvSpPr txBox="1"/>
          <p:nvPr/>
        </p:nvSpPr>
        <p:spPr>
          <a:xfrm>
            <a:off x="4069080" y="2834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代理店別(一次店、Q3)</a:t>
            </a:r>
            <a:endParaRPr lang="en-US" sz="1400" dirty="0"/>
          </a:p>
        </p:txBody>
      </p:sp>
      <p:graphicFrame>
        <p:nvGraphicFramePr>
          <p:cNvPr id="3" name="q3-ag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3200400"/>
          <a:ext cx="3749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57200"/>
                <a:gridCol w="548640"/>
                <a:gridCol w="77724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一次店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FCT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Backup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うち納期未定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見込み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富士フイルム和光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池田理化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ナカライテスク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岩井化学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その他・未記入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7" name="q3-agent-note"/>
          <p:cNvSpPr txBox="1"/>
          <p:nvPr/>
        </p:nvSpPr>
        <p:spPr>
          <a:xfrm>
            <a:off x="4206240" y="5257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和光・池田でQ3 FCTの71%(10件)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納期を月決(A)・Q決(B)に固められるかが勝負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accent5"/>
                </a:solidFill>
              </a:rPr>
              <a:t>見込み = FCT×モデル勝率 + Backup×10%</a:t>
            </a:r>
            <a:endParaRPr lang="en-US" sz="1100" dirty="0"/>
          </a:p>
        </p:txBody>
      </p:sp>
      <p:sp>
        <p:nvSpPr>
          <p:cNvPr id="28" name="q3-path"/>
          <p:cNvSpPr/>
          <p:nvPr/>
        </p:nvSpPr>
        <p:spPr>
          <a:xfrm>
            <a:off x="8046720" y="2834640"/>
            <a:ext cx="3685032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q3-path-h"/>
          <p:cNvSpPr txBox="1"/>
          <p:nvPr/>
        </p:nvSpPr>
        <p:spPr>
          <a:xfrm>
            <a:off x="8046720" y="283464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18台への道筋(必要水準)</a:t>
            </a:r>
            <a:endParaRPr lang="en-US" sz="1400" dirty="0"/>
          </a:p>
        </p:txBody>
      </p:sp>
      <p:graphicFrame>
        <p:nvGraphicFramePr>
          <p:cNvPr id="30" name="q3-path-chart" descr=""/>
          <p:cNvGraphicFramePr/>
          <p:nvPr/>
        </p:nvGraphicFramePr>
        <p:xfrm>
          <a:off x="8046720" y="3154680"/>
          <a:ext cx="1783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q3-lg-0"/>
          <p:cNvSpPr/>
          <p:nvPr/>
        </p:nvSpPr>
        <p:spPr>
          <a:xfrm>
            <a:off x="9857232" y="3383280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q3-lg-t-0"/>
          <p:cNvSpPr txBox="1"/>
          <p:nvPr/>
        </p:nvSpPr>
        <p:spPr>
          <a:xfrm>
            <a:off x="10076688" y="33375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Q3 FCT決め切り 12台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14件中12件(86%)。モデル勝率なら約8件</a:t>
            </a:r>
            <a:endParaRPr lang="en-US" sz="1000" dirty="0"/>
          </a:p>
        </p:txBody>
      </p:sp>
      <p:sp>
        <p:nvSpPr>
          <p:cNvPr id="33" name="q3-lg-1"/>
          <p:cNvSpPr/>
          <p:nvPr/>
        </p:nvSpPr>
        <p:spPr>
          <a:xfrm>
            <a:off x="9857232" y="4251960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q3-lg-t-1"/>
          <p:cNvSpPr txBox="1"/>
          <p:nvPr/>
        </p:nvSpPr>
        <p:spPr>
          <a:xfrm>
            <a:off x="10076688" y="42062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Backup昇格 1台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Q3 Backup 3件から1件</a:t>
            </a:r>
            <a:endParaRPr lang="en-US" sz="1000" dirty="0"/>
          </a:p>
        </p:txBody>
      </p:sp>
      <p:sp>
        <p:nvSpPr>
          <p:cNvPr id="35" name="q3-lg-2"/>
          <p:cNvSpPr/>
          <p:nvPr/>
        </p:nvSpPr>
        <p:spPr>
          <a:xfrm>
            <a:off x="9857232" y="5120640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q3-lg-t-2"/>
          <p:cNvSpPr txBox="1"/>
          <p:nvPr/>
        </p:nvSpPr>
        <p:spPr>
          <a:xfrm>
            <a:off x="10076688" y="507492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Q4から前倒し 5台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Q4 FCTのうち確度60%以上・納期A/Bの10件から半分</a:t>
            </a:r>
            <a:endParaRPr lang="en-US" sz="1000" dirty="0"/>
          </a:p>
        </p:txBody>
      </p:sp>
      <p:sp>
        <p:nvSpPr>
          <p:cNvPr id="37" name="q3-path-note"/>
          <p:cNvSpPr txBox="1"/>
          <p:nvPr/>
        </p:nvSpPr>
        <p:spPr>
          <a:xfrm>
            <a:off x="8183880" y="5943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前倒し分は年間の台数を増やさない点に注意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11/7までにQ3受注を確定し年間8.7台を挽回、9F達成には棚卸の倍増が必要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Q3は11/7までに受注確定(12月納品のリミット)。年間は厳しめの率(昇格15%・引き戻し10%・商談化2%)で試算し、11/7に判定</a:t>
            </a:r>
            <a:endParaRPr lang="en-US" sz="1300" dirty="0"/>
          </a:p>
        </p:txBody>
      </p:sp>
      <p:sp>
        <p:nvSpPr>
          <p:cNvPr id="4" name="col-wf"/>
          <p:cNvSpPr/>
          <p:nvPr/>
        </p:nvSpPr>
        <p:spPr>
          <a:xfrm>
            <a:off x="457200" y="1417320"/>
            <a:ext cx="512064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wf-h"/>
          <p:cNvSpPr txBox="1"/>
          <p:nvPr/>
        </p:nvSpPr>
        <p:spPr>
          <a:xfrm>
            <a:off x="45720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挽回見込み(台)</a:t>
            </a:r>
            <a:endParaRPr lang="en-US" sz="1400" dirty="0"/>
          </a:p>
        </p:txBody>
      </p:sp>
      <p:graphicFrame>
        <p:nvGraphicFramePr>
          <p:cNvPr id="6" name="wf-chart" descr=""/>
          <p:cNvGraphicFramePr/>
          <p:nvPr/>
        </p:nvGraphicFramePr>
        <p:xfrm>
          <a:off x="457200" y="1737360"/>
          <a:ext cx="51206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wf-val-0"/>
          <p:cNvSpPr txBox="1"/>
          <p:nvPr/>
        </p:nvSpPr>
        <p:spPr>
          <a:xfrm>
            <a:off x="559613" y="1876715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14.8</a:t>
            </a:r>
            <a:endParaRPr lang="en-US" sz="1200" dirty="0"/>
          </a:p>
        </p:txBody>
      </p:sp>
      <p:sp>
        <p:nvSpPr>
          <p:cNvPr id="8" name="wf-cat-0"/>
          <p:cNvSpPr txBox="1"/>
          <p:nvPr/>
        </p:nvSpPr>
        <p:spPr>
          <a:xfrm>
            <a:off x="559613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不足</a:t>
            </a:r>
            <a:endParaRPr lang="en-US" sz="1000" dirty="0"/>
          </a:p>
        </p:txBody>
      </p:sp>
      <p:sp>
        <p:nvSpPr>
          <p:cNvPr id="9" name="wf-val-1"/>
          <p:cNvSpPr txBox="1"/>
          <p:nvPr/>
        </p:nvSpPr>
        <p:spPr>
          <a:xfrm>
            <a:off x="1378915" y="1876715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+3.0</a:t>
            </a:r>
            <a:endParaRPr lang="en-US" sz="1200" dirty="0"/>
          </a:p>
        </p:txBody>
      </p:sp>
      <p:sp>
        <p:nvSpPr>
          <p:cNvPr id="10" name="wf-cat-1"/>
          <p:cNvSpPr txBox="1"/>
          <p:nvPr/>
        </p:nvSpPr>
        <p:spPr>
          <a:xfrm>
            <a:off x="1378915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①Backup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昇格</a:t>
            </a:r>
            <a:endParaRPr lang="en-US" sz="1000" dirty="0"/>
          </a:p>
        </p:txBody>
      </p:sp>
      <p:sp>
        <p:nvSpPr>
          <p:cNvPr id="11" name="wf-val-2"/>
          <p:cNvSpPr txBox="1"/>
          <p:nvPr/>
        </p:nvSpPr>
        <p:spPr>
          <a:xfrm>
            <a:off x="2198218" y="2197669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+3.0</a:t>
            </a:r>
            <a:endParaRPr lang="en-US" sz="1200" dirty="0"/>
          </a:p>
        </p:txBody>
      </p:sp>
      <p:sp>
        <p:nvSpPr>
          <p:cNvPr id="12" name="wf-cat-2"/>
          <p:cNvSpPr txBox="1"/>
          <p:nvPr/>
        </p:nvSpPr>
        <p:spPr>
          <a:xfrm>
            <a:off x="2198218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②引き戻し</a:t>
            </a:r>
            <a:endParaRPr lang="en-US" sz="1000" dirty="0"/>
          </a:p>
        </p:txBody>
      </p:sp>
      <p:sp>
        <p:nvSpPr>
          <p:cNvPr id="13" name="wf-val-3"/>
          <p:cNvSpPr txBox="1"/>
          <p:nvPr/>
        </p:nvSpPr>
        <p:spPr>
          <a:xfrm>
            <a:off x="3017520" y="2518623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+1.4</a:t>
            </a:r>
            <a:endParaRPr lang="en-US" sz="1200" dirty="0"/>
          </a:p>
        </p:txBody>
      </p:sp>
      <p:sp>
        <p:nvSpPr>
          <p:cNvPr id="14" name="wf-cat-3"/>
          <p:cNvSpPr txBox="1"/>
          <p:nvPr/>
        </p:nvSpPr>
        <p:spPr>
          <a:xfrm>
            <a:off x="3017520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③テレマ</a:t>
            </a:r>
            <a:endParaRPr lang="en-US" sz="1000" dirty="0"/>
          </a:p>
        </p:txBody>
      </p:sp>
      <p:sp>
        <p:nvSpPr>
          <p:cNvPr id="15" name="wf-val-4"/>
          <p:cNvSpPr txBox="1"/>
          <p:nvPr/>
        </p:nvSpPr>
        <p:spPr>
          <a:xfrm>
            <a:off x="3836822" y="2668402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+1.3</a:t>
            </a:r>
            <a:endParaRPr lang="en-US" sz="1200" dirty="0"/>
          </a:p>
        </p:txBody>
      </p:sp>
      <p:sp>
        <p:nvSpPr>
          <p:cNvPr id="16" name="wf-cat-4"/>
          <p:cNvSpPr txBox="1"/>
          <p:nvPr/>
        </p:nvSpPr>
        <p:spPr>
          <a:xfrm>
            <a:off x="3836822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④⑤リード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・展示会</a:t>
            </a:r>
            <a:endParaRPr lang="en-US" sz="1000" dirty="0"/>
          </a:p>
        </p:txBody>
      </p:sp>
      <p:sp>
        <p:nvSpPr>
          <p:cNvPr id="17" name="wf-val-5"/>
          <p:cNvSpPr txBox="1"/>
          <p:nvPr/>
        </p:nvSpPr>
        <p:spPr>
          <a:xfrm>
            <a:off x="4656125" y="2796784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6.2</a:t>
            </a:r>
            <a:endParaRPr lang="en-US" sz="1200" dirty="0"/>
          </a:p>
        </p:txBody>
      </p:sp>
      <p:sp>
        <p:nvSpPr>
          <p:cNvPr id="18" name="wf-cat-5"/>
          <p:cNvSpPr txBox="1"/>
          <p:nvPr/>
        </p:nvSpPr>
        <p:spPr>
          <a:xfrm>
            <a:off x="4656125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残ギャップ</a:t>
            </a:r>
            <a:endParaRPr lang="en-US" sz="1000" dirty="0"/>
          </a:p>
        </p:txBody>
      </p:sp>
      <p:sp>
        <p:nvSpPr>
          <p:cNvPr id="19" name="wf-split"/>
          <p:cNvSpPr txBox="1"/>
          <p:nvPr/>
        </p:nvSpPr>
        <p:spPr>
          <a:xfrm>
            <a:off x="594360" y="4343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代理店の既存案件 6.0台 / インハウス施策 2.7台</a:t>
            </a:r>
            <a:endParaRPr lang="en-US" sz="1100" dirty="0"/>
          </a:p>
        </p:txBody>
      </p:sp>
      <p:sp>
        <p:nvSpPr>
          <p:cNvPr id="20" name="sc-0"/>
          <p:cNvSpPr/>
          <p:nvPr/>
        </p:nvSpPr>
        <p:spPr>
          <a:xfrm>
            <a:off x="594360" y="4754880"/>
            <a:ext cx="23317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c-t-0"/>
          <p:cNvSpPr txBox="1"/>
          <p:nvPr/>
        </p:nvSpPr>
        <p:spPr>
          <a:xfrm>
            <a:off x="731520" y="4846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厳しめ(確認済みの率)</a:t>
            </a:r>
            <a:endParaRPr lang="en-US" sz="1000" dirty="0"/>
          </a:p>
        </p:txBody>
      </p:sp>
      <p:sp>
        <p:nvSpPr>
          <p:cNvPr id="22" name="sc-v-0"/>
          <p:cNvSpPr txBox="1"/>
          <p:nvPr/>
        </p:nvSpPr>
        <p:spPr>
          <a:xfrm>
            <a:off x="731520" y="5257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着地 53.8台</a:t>
            </a:r>
            <a:endParaRPr lang="en-US" sz="2200" dirty="0"/>
          </a:p>
        </p:txBody>
      </p:sp>
      <p:sp>
        <p:nvSpPr>
          <p:cNvPr id="23" name="sc-s-0"/>
          <p:cNvSpPr txBox="1"/>
          <p:nvPr/>
        </p:nvSpPr>
        <p:spPr>
          <a:xfrm>
            <a:off x="731520" y="5742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9F目標に ▲6.2台</a:t>
            </a:r>
            <a:endParaRPr lang="en-US" sz="1100" dirty="0"/>
          </a:p>
        </p:txBody>
      </p:sp>
      <p:sp>
        <p:nvSpPr>
          <p:cNvPr id="24" name="sc-1"/>
          <p:cNvSpPr/>
          <p:nvPr/>
        </p:nvSpPr>
        <p:spPr>
          <a:xfrm>
            <a:off x="3063240" y="4754880"/>
            <a:ext cx="23317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c-t-1"/>
          <p:cNvSpPr txBox="1"/>
          <p:nvPr/>
        </p:nvSpPr>
        <p:spPr>
          <a:xfrm>
            <a:off x="3200400" y="4846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ストレッチ(昇格30%/引戻20%)</a:t>
            </a:r>
            <a:endParaRPr lang="en-US" sz="1000" dirty="0"/>
          </a:p>
        </p:txBody>
      </p:sp>
      <p:sp>
        <p:nvSpPr>
          <p:cNvPr id="26" name="sc-v-1"/>
          <p:cNvSpPr txBox="1"/>
          <p:nvPr/>
        </p:nvSpPr>
        <p:spPr>
          <a:xfrm>
            <a:off x="3200400" y="5257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着地 60台</a:t>
            </a:r>
            <a:endParaRPr lang="en-US" sz="2200" dirty="0"/>
          </a:p>
        </p:txBody>
      </p:sp>
      <p:sp>
        <p:nvSpPr>
          <p:cNvPr id="27" name="sc-s-1"/>
          <p:cNvSpPr txBox="1"/>
          <p:nvPr/>
        </p:nvSpPr>
        <p:spPr>
          <a:xfrm>
            <a:off x="3200400" y="5742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9F達成 = 上期▲7台も挽回</a:t>
            </a:r>
            <a:endParaRPr lang="en-US" sz="1100" dirty="0"/>
          </a:p>
        </p:txBody>
      </p:sp>
      <p:sp>
        <p:nvSpPr>
          <p:cNvPr id="28" name="col-gantt"/>
          <p:cNvSpPr/>
          <p:nvPr/>
        </p:nvSpPr>
        <p:spPr>
          <a:xfrm>
            <a:off x="5806440" y="1417320"/>
            <a:ext cx="5925312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gantt-h"/>
          <p:cNvSpPr txBox="1"/>
          <p:nvPr/>
        </p:nvSpPr>
        <p:spPr>
          <a:xfrm>
            <a:off x="5806440" y="141732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スケジュール(リミット 11/7)</a:t>
            </a:r>
            <a:endParaRPr lang="en-US" sz="1400" dirty="0"/>
          </a:p>
        </p:txBody>
      </p:sp>
      <p:sp>
        <p:nvSpPr>
          <p:cNvPr id="30" name="wk-0"/>
          <p:cNvSpPr/>
          <p:nvPr/>
        </p:nvSpPr>
        <p:spPr>
          <a:xfrm>
            <a:off x="6675120" y="1783080"/>
            <a:ext cx="974750" cy="2926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wk-t-0"/>
          <p:cNvSpPr txBox="1"/>
          <p:nvPr/>
        </p:nvSpPr>
        <p:spPr>
          <a:xfrm>
            <a:off x="6675120" y="1783080"/>
            <a:ext cx="974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10/6〜</a:t>
            </a:r>
            <a:endParaRPr lang="en-US" sz="1100" dirty="0"/>
          </a:p>
        </p:txBody>
      </p:sp>
      <p:sp>
        <p:nvSpPr>
          <p:cNvPr id="32" name="wk-1"/>
          <p:cNvSpPr/>
          <p:nvPr/>
        </p:nvSpPr>
        <p:spPr>
          <a:xfrm>
            <a:off x="7686446" y="1783080"/>
            <a:ext cx="974750" cy="2926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wk-t-1"/>
          <p:cNvSpPr txBox="1"/>
          <p:nvPr/>
        </p:nvSpPr>
        <p:spPr>
          <a:xfrm>
            <a:off x="7686446" y="1783080"/>
            <a:ext cx="974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10/13〜</a:t>
            </a:r>
            <a:endParaRPr lang="en-US" sz="1100" dirty="0"/>
          </a:p>
        </p:txBody>
      </p:sp>
      <p:sp>
        <p:nvSpPr>
          <p:cNvPr id="34" name="wk-2"/>
          <p:cNvSpPr/>
          <p:nvPr/>
        </p:nvSpPr>
        <p:spPr>
          <a:xfrm>
            <a:off x="8697773" y="1783080"/>
            <a:ext cx="974750" cy="2926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wk-t-2"/>
          <p:cNvSpPr txBox="1"/>
          <p:nvPr/>
        </p:nvSpPr>
        <p:spPr>
          <a:xfrm>
            <a:off x="8697773" y="1783080"/>
            <a:ext cx="974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10/20〜</a:t>
            </a:r>
            <a:endParaRPr lang="en-US" sz="1100" dirty="0"/>
          </a:p>
        </p:txBody>
      </p:sp>
      <p:sp>
        <p:nvSpPr>
          <p:cNvPr id="36" name="wk-3"/>
          <p:cNvSpPr/>
          <p:nvPr/>
        </p:nvSpPr>
        <p:spPr>
          <a:xfrm>
            <a:off x="9709099" y="1783080"/>
            <a:ext cx="974750" cy="2926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wk-t-3"/>
          <p:cNvSpPr txBox="1"/>
          <p:nvPr/>
        </p:nvSpPr>
        <p:spPr>
          <a:xfrm>
            <a:off x="9709099" y="1783080"/>
            <a:ext cx="974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10/27〜</a:t>
            </a:r>
            <a:endParaRPr lang="en-US" sz="1100" dirty="0"/>
          </a:p>
        </p:txBody>
      </p:sp>
      <p:sp>
        <p:nvSpPr>
          <p:cNvPr id="38" name="wk-4"/>
          <p:cNvSpPr/>
          <p:nvPr/>
        </p:nvSpPr>
        <p:spPr>
          <a:xfrm>
            <a:off x="10720426" y="1783080"/>
            <a:ext cx="974750" cy="2926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wk-t-4"/>
          <p:cNvSpPr txBox="1"/>
          <p:nvPr/>
        </p:nvSpPr>
        <p:spPr>
          <a:xfrm>
            <a:off x="10720426" y="1783080"/>
            <a:ext cx="974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11/4〜7</a:t>
            </a:r>
            <a:endParaRPr lang="en-US" sz="1100" dirty="0"/>
          </a:p>
        </p:txBody>
      </p:sp>
      <p:sp>
        <p:nvSpPr>
          <p:cNvPr id="40" name="lane-0"/>
          <p:cNvSpPr/>
          <p:nvPr/>
        </p:nvSpPr>
        <p:spPr>
          <a:xfrm>
            <a:off x="5879592" y="2194560"/>
            <a:ext cx="5779008" cy="4663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lane-t-0"/>
          <p:cNvSpPr txBox="1"/>
          <p:nvPr/>
        </p:nvSpPr>
        <p:spPr>
          <a:xfrm>
            <a:off x="5916168" y="2194560"/>
            <a:ext cx="758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Q3刈り取り</a:t>
            </a:r>
            <a:endParaRPr lang="en-US" sz="1000" dirty="0"/>
          </a:p>
        </p:txBody>
      </p:sp>
      <p:sp>
        <p:nvSpPr>
          <p:cNvPr id="42" name="bar-0-0"/>
          <p:cNvSpPr/>
          <p:nvPr/>
        </p:nvSpPr>
        <p:spPr>
          <a:xfrm>
            <a:off x="6702552" y="224028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3" name="bar-t-0-0"/>
          <p:cNvSpPr txBox="1"/>
          <p:nvPr/>
        </p:nvSpPr>
        <p:spPr>
          <a:xfrm>
            <a:off x="6748272" y="224028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Q3 FCT14件 納期確定</a:t>
            </a:r>
            <a:endParaRPr lang="en-US" sz="1000" dirty="0"/>
          </a:p>
        </p:txBody>
      </p:sp>
      <p:sp>
        <p:nvSpPr>
          <p:cNvPr id="44" name="bar-0-1"/>
          <p:cNvSpPr/>
          <p:nvPr/>
        </p:nvSpPr>
        <p:spPr>
          <a:xfrm>
            <a:off x="7713878" y="2240280"/>
            <a:ext cx="1931213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bar-t-0-1"/>
          <p:cNvSpPr txBox="1"/>
          <p:nvPr/>
        </p:nvSpPr>
        <p:spPr>
          <a:xfrm>
            <a:off x="7759598" y="2240280"/>
            <a:ext cx="18397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Q4前倒し10件 年内受注交渉</a:t>
            </a:r>
            <a:endParaRPr lang="en-US" sz="1000" dirty="0"/>
          </a:p>
        </p:txBody>
      </p:sp>
      <p:sp>
        <p:nvSpPr>
          <p:cNvPr id="46" name="bar-0-2"/>
          <p:cNvSpPr/>
          <p:nvPr/>
        </p:nvSpPr>
        <p:spPr>
          <a:xfrm>
            <a:off x="9736531" y="2240280"/>
            <a:ext cx="1931213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7" name="bar-t-0-2"/>
          <p:cNvSpPr txBox="1"/>
          <p:nvPr/>
        </p:nvSpPr>
        <p:spPr>
          <a:xfrm>
            <a:off x="9782251" y="2240280"/>
            <a:ext cx="18397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PO回収・12月納品確定</a:t>
            </a:r>
            <a:endParaRPr lang="en-US" sz="1000" dirty="0"/>
          </a:p>
        </p:txBody>
      </p:sp>
      <p:sp>
        <p:nvSpPr>
          <p:cNvPr id="48" name="lane-1"/>
          <p:cNvSpPr/>
          <p:nvPr/>
        </p:nvSpPr>
        <p:spPr>
          <a:xfrm>
            <a:off x="5879592" y="2697480"/>
            <a:ext cx="5779008" cy="8778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lane-t-1"/>
          <p:cNvSpPr txBox="1"/>
          <p:nvPr/>
        </p:nvSpPr>
        <p:spPr>
          <a:xfrm>
            <a:off x="5916168" y="2697480"/>
            <a:ext cx="758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代理店</a:t>
            </a:r>
            <a:endParaRPr lang="en-US" sz="1000" dirty="0"/>
          </a:p>
        </p:txBody>
      </p:sp>
      <p:sp>
        <p:nvSpPr>
          <p:cNvPr id="50" name="bar-1-0"/>
          <p:cNvSpPr/>
          <p:nvPr/>
        </p:nvSpPr>
        <p:spPr>
          <a:xfrm>
            <a:off x="6702552" y="274320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bar-t-1-0"/>
          <p:cNvSpPr txBox="1"/>
          <p:nvPr/>
        </p:nvSpPr>
        <p:spPr>
          <a:xfrm>
            <a:off x="6748272" y="274320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上位5社 棚卸会</a:t>
            </a:r>
            <a:endParaRPr lang="en-US" sz="1000" dirty="0"/>
          </a:p>
        </p:txBody>
      </p:sp>
      <p:sp>
        <p:nvSpPr>
          <p:cNvPr id="52" name="bar-1-1"/>
          <p:cNvSpPr/>
          <p:nvPr/>
        </p:nvSpPr>
        <p:spPr>
          <a:xfrm>
            <a:off x="7713878" y="274320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bar-t-1-1"/>
          <p:cNvSpPr txBox="1"/>
          <p:nvPr/>
        </p:nvSpPr>
        <p:spPr>
          <a:xfrm>
            <a:off x="7759598" y="274320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Backup昇格判定 41件</a:t>
            </a:r>
            <a:endParaRPr lang="en-US" sz="1000" dirty="0"/>
          </a:p>
        </p:txBody>
      </p:sp>
      <p:sp>
        <p:nvSpPr>
          <p:cNvPr id="54" name="bar-1-2"/>
          <p:cNvSpPr/>
          <p:nvPr/>
        </p:nvSpPr>
        <p:spPr>
          <a:xfrm>
            <a:off x="8725205" y="2743200"/>
            <a:ext cx="1931213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bar-t-1-2"/>
          <p:cNvSpPr txBox="1"/>
          <p:nvPr/>
        </p:nvSpPr>
        <p:spPr>
          <a:xfrm>
            <a:off x="8770925" y="2743200"/>
            <a:ext cx="18397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ID/FP デモ・見積(11月期限)</a:t>
            </a:r>
            <a:endParaRPr lang="en-US" sz="1000" dirty="0"/>
          </a:p>
        </p:txBody>
      </p:sp>
      <p:sp>
        <p:nvSpPr>
          <p:cNvPr id="56" name="bar-1-3"/>
          <p:cNvSpPr/>
          <p:nvPr/>
        </p:nvSpPr>
        <p:spPr>
          <a:xfrm>
            <a:off x="7713878" y="3154680"/>
            <a:ext cx="1931213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bar-t-1-3"/>
          <p:cNvSpPr txBox="1"/>
          <p:nvPr/>
        </p:nvSpPr>
        <p:spPr>
          <a:xfrm>
            <a:off x="7759598" y="3154680"/>
            <a:ext cx="18397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来期移動・前倒し 64件の引き戻し交渉</a:t>
            </a:r>
            <a:endParaRPr lang="en-US" sz="1000" dirty="0"/>
          </a:p>
        </p:txBody>
      </p:sp>
      <p:sp>
        <p:nvSpPr>
          <p:cNvPr id="58" name="lane-2"/>
          <p:cNvSpPr/>
          <p:nvPr/>
        </p:nvSpPr>
        <p:spPr>
          <a:xfrm>
            <a:off x="5879592" y="3611880"/>
            <a:ext cx="5779008" cy="8778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9" name="lane-t-2"/>
          <p:cNvSpPr txBox="1"/>
          <p:nvPr/>
        </p:nvSpPr>
        <p:spPr>
          <a:xfrm>
            <a:off x="5916168" y="3611880"/>
            <a:ext cx="758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インハウス</a:t>
            </a:r>
            <a:endParaRPr lang="en-US" sz="1000" dirty="0"/>
          </a:p>
        </p:txBody>
      </p:sp>
      <p:sp>
        <p:nvSpPr>
          <p:cNvPr id="60" name="bar-2-0"/>
          <p:cNvSpPr/>
          <p:nvPr/>
        </p:nvSpPr>
        <p:spPr>
          <a:xfrm>
            <a:off x="6702552" y="3657600"/>
            <a:ext cx="3953866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1" name="bar-t-2-0"/>
          <p:cNvSpPr txBox="1"/>
          <p:nvPr/>
        </p:nvSpPr>
        <p:spPr>
          <a:xfrm>
            <a:off x="6748272" y="3657600"/>
            <a:ext cx="3862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テレマ 422名(10/9〜、S/A 44名を先行)</a:t>
            </a:r>
            <a:endParaRPr lang="en-US" sz="1000" dirty="0"/>
          </a:p>
        </p:txBody>
      </p:sp>
      <p:sp>
        <p:nvSpPr>
          <p:cNvPr id="62" name="bar-2-1"/>
          <p:cNvSpPr/>
          <p:nvPr/>
        </p:nvSpPr>
        <p:spPr>
          <a:xfrm>
            <a:off x="7713878" y="406908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3" name="bar-t-2-1"/>
          <p:cNvSpPr txBox="1"/>
          <p:nvPr/>
        </p:nvSpPr>
        <p:spPr>
          <a:xfrm>
            <a:off x="7759598" y="406908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NGS EXPO リード配分</a:t>
            </a:r>
            <a:endParaRPr lang="en-US" sz="1000" dirty="0"/>
          </a:p>
        </p:txBody>
      </p:sp>
      <p:sp>
        <p:nvSpPr>
          <p:cNvPr id="64" name="bar-2-2"/>
          <p:cNvSpPr/>
          <p:nvPr/>
        </p:nvSpPr>
        <p:spPr>
          <a:xfrm>
            <a:off x="8725205" y="406908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5" name="bar-t-2-2"/>
          <p:cNvSpPr txBox="1"/>
          <p:nvPr/>
        </p:nvSpPr>
        <p:spPr>
          <a:xfrm>
            <a:off x="8770925" y="406908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滞留リード126件 案件化</a:t>
            </a:r>
            <a:endParaRPr lang="en-US" sz="1000" dirty="0"/>
          </a:p>
        </p:txBody>
      </p:sp>
      <p:sp>
        <p:nvSpPr>
          <p:cNvPr id="66" name="lane-3"/>
          <p:cNvSpPr/>
          <p:nvPr/>
        </p:nvSpPr>
        <p:spPr>
          <a:xfrm>
            <a:off x="5879592" y="4526280"/>
            <a:ext cx="5779008" cy="4663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7" name="lane-t-3"/>
          <p:cNvSpPr txBox="1"/>
          <p:nvPr/>
        </p:nvSpPr>
        <p:spPr>
          <a:xfrm>
            <a:off x="5916168" y="4526280"/>
            <a:ext cx="758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管理</a:t>
            </a:r>
            <a:endParaRPr lang="en-US" sz="1000" dirty="0"/>
          </a:p>
        </p:txBody>
      </p:sp>
      <p:sp>
        <p:nvSpPr>
          <p:cNvPr id="68" name="bar-3-0"/>
          <p:cNvSpPr/>
          <p:nvPr/>
        </p:nvSpPr>
        <p:spPr>
          <a:xfrm>
            <a:off x="9736531" y="457200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9" name="bar-t-3-0"/>
          <p:cNvSpPr txBox="1"/>
          <p:nvPr/>
        </p:nvSpPr>
        <p:spPr>
          <a:xfrm>
            <a:off x="9782251" y="457200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10月末FCTレビュー</a:t>
            </a:r>
            <a:endParaRPr lang="en-US" sz="1000" dirty="0"/>
          </a:p>
        </p:txBody>
      </p:sp>
      <p:sp>
        <p:nvSpPr>
          <p:cNvPr id="70" name="bar-3-1"/>
          <p:cNvSpPr/>
          <p:nvPr/>
        </p:nvSpPr>
        <p:spPr>
          <a:xfrm>
            <a:off x="10747858" y="457200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1" name="bar-t-3-1"/>
          <p:cNvSpPr txBox="1"/>
          <p:nvPr/>
        </p:nvSpPr>
        <p:spPr>
          <a:xfrm>
            <a:off x="10793578" y="457200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Q3・9F判定</a:t>
            </a:r>
            <a:endParaRPr lang="en-US" sz="1000" dirty="0"/>
          </a:p>
        </p:txBody>
      </p:sp>
      <p:sp>
        <p:nvSpPr>
          <p:cNvPr id="72" name="ask"/>
          <p:cNvSpPr/>
          <p:nvPr/>
        </p:nvSpPr>
        <p:spPr>
          <a:xfrm>
            <a:off x="5943600" y="5102352"/>
            <a:ext cx="5650992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3" name="ask-text"/>
          <p:cNvSpPr txBox="1"/>
          <p:nvPr/>
        </p:nvSpPr>
        <p:spPr>
          <a:xfrm>
            <a:off x="6080760" y="5148072"/>
            <a:ext cx="5376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役員へのお願い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主力代理店(和光・池田・レスター・ナカライ)の幹部へ、Q3案件の年内受注と年度内前倒しの要請(10月中)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前倒し案件向けの価格・在庫条件の決裁枠(11/7の判定で使う)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peline Recovery">
  <a:themeElements>
    <a:clrScheme name="Pipeline Recovery">
      <a:dk1>
        <a:srgbClr val="1F2937"/>
      </a:dk1>
      <a:lt1>
        <a:srgbClr val="FFFFFF"/>
      </a:lt1>
      <a:dk2>
        <a:srgbClr val="1B2A4A"/>
      </a:dk2>
      <a:lt2>
        <a:srgbClr val="EEF2F7"/>
      </a:lt2>
      <a:accent1>
        <a:srgbClr val="1B2A4A"/>
      </a:accent1>
      <a:accent2>
        <a:srgbClr val="0F8B7E"/>
      </a:accent2>
      <a:accent3>
        <a:srgbClr val="D9822B"/>
      </a:accent3>
      <a:accent4>
        <a:srgbClr val="C0392B"/>
      </a:accent4>
      <a:accent5>
        <a:srgbClr val="8A94A6"/>
      </a:accent5>
      <a:accent6>
        <a:srgbClr val="D6E4F0"/>
      </a:accent6>
      <a:hlink>
        <a:srgbClr val="0F8B7E"/>
      </a:hlink>
      <a:folHlink>
        <a:srgbClr val="8A94A6"/>
      </a:folHlink>
    </a:clrScheme>
    <a:fontScheme name="Pipeline Recovery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下期パイプライン挽回計画</dc:title>
  <dc:subject>PptxGenJS Presentation</dc:subject>
  <dc:creator>PptxGenJS</dc:creator>
  <cp:lastModifiedBy>PptxGenJS</cp:lastModifiedBy>
  <cp:revision>1</cp:revision>
  <dcterms:created xsi:type="dcterms:W3CDTF">2026-10-07T02:47:49Z</dcterms:created>
  <dcterms:modified xsi:type="dcterms:W3CDTF">2026-10-07T02:47:49Z</dcterms:modified>
</cp:coreProperties>
</file>